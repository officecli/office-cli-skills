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theme" Target="theme/theme1.xml"/>
    <Relationship Id="rId11" Type="http://schemas.openxmlformats.org/officeDocument/2006/relationships/presProps" Target="presProps.xml"/>
    <Relationship Id="rId12" Type="http://schemas.openxmlformats.org/officeDocument/2006/relationships/viewProps" Target="viewProps.xml"/>
    <Relationship Id="rId13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500000" y="2200000"/>
            <a:ext cx="9200000" cy="120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ctr"/>
            <a:r>
              <a:rPr lang="zh-CN" sz="4400" b="1">
                <a:solidFill>
                  <a:srgbClr val="1C1917"/>
                </a:solidFill>
                <a:latin typeface="Georgia"/>
                <a:ea typeface="Noto Serif CJK SC"/>
              </a:rPr>
              <a:t>Text-only executive briefing</a:t>
            </a:r>
          </a:p>
        </p:txBody>
      </p:sp>
      <p:sp>
        <p:nvSpPr>
          <p:cNvPr id="4" name="DecorLine"/>
          <p:cNvSpPr/>
          <p:nvPr/>
        </p:nvSpPr>
        <p:spPr>
          <a:xfrm>
            <a:off x="4596000" y="3600000"/>
            <a:ext cx="3000000" cy="0"/>
          </a:xfrm>
          <a:prstGeom prst="line">
            <a:avLst/>
          </a:prstGeom>
          <a:ln w="28575">
            <a:solidFill>
              <a:srgbClr val="D97706"/>
            </a:solidFill>
          </a:ln>
        </p:spPr>
      </p:sp>
      <p:sp>
        <p:nvSpPr>
          <p:cNvPr id="3" name="Subtitle"/>
          <p:cNvSpPr/>
          <p:nvPr/>
        </p:nvSpPr>
        <p:spPr>
          <a:xfrm>
            <a:off x="1500000" y="3800000"/>
            <a:ext cx="9200000" cy="8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ctr"/>
            <a:r>
              <a:rPr lang="zh-CN" sz="2000">
                <a:solidFill>
                  <a:srgbClr val="292524"/>
                </a:solidFill>
                <a:latin typeface="Georgia"/>
                <a:ea typeface="Noto Serif CJK SC"/>
              </a:rPr>
              <a:t>Governance, auditability, and operator trust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01/08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1C1917"/>
                </a:solidFill>
                <a:latin typeface="Georgia"/>
                <a:ea typeface="Noto Serif CJK SC"/>
              </a:rPr>
              <a:t>Contents</a:t>
            </a:r>
          </a:p>
        </p:txBody>
      </p:sp>
      <p:sp>
        <p:nvSpPr>
          <p:cNvPr id="4" name="TitleDeco"/>
          <p:cNvSpPr/>
          <p:nvPr/>
        </p:nvSpPr>
        <p:spPr>
          <a:xfrm>
            <a:off x="500000" y="320000"/>
            <a:ext cx="80000" cy="5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6" name="Subtitle"/>
          <p:cNvSpPr/>
          <p:nvPr/>
        </p:nvSpPr>
        <p:spPr>
          <a:xfrm>
            <a:off x="700000" y="90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292524">
                    <a:alpha val="80000"/>
                  </a:srgbClr>
                </a:solidFill>
                <a:latin typeface="Georgia"/>
                <a:ea typeface="Noto Serif CJK SC"/>
              </a:rPr>
              <a:t>Review the structure before diving into the content.</a:t>
            </a:r>
          </a:p>
        </p:txBody>
      </p:sp>
      <p:sp>
        <p:nvSpPr>
          <p:cNvPr id="20" name="TOCCard1"/>
          <p:cNvSpPr/>
          <p:nvPr/>
        </p:nvSpPr>
        <p:spPr>
          <a:xfrm>
            <a:off x="900000" y="150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1" name="TOCIndex1"/>
          <p:cNvSpPr/>
          <p:nvPr/>
        </p:nvSpPr>
        <p:spPr>
          <a:xfrm>
            <a:off x="1180000" y="164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01</a:t>
            </a:r>
          </a:p>
        </p:txBody>
      </p:sp>
      <p:sp>
        <p:nvSpPr>
          <p:cNvPr id="22" name="TOCText1"/>
          <p:cNvSpPr/>
          <p:nvPr/>
        </p:nvSpPr>
        <p:spPr>
          <a:xfrm>
            <a:off x="2400000" y="164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Core Storyline</a:t>
            </a:r>
          </a:p>
        </p:txBody>
      </p:sp>
      <p:sp>
        <p:nvSpPr>
          <p:cNvPr id="23" name="TOCCard2"/>
          <p:cNvSpPr/>
          <p:nvPr/>
        </p:nvSpPr>
        <p:spPr>
          <a:xfrm>
            <a:off x="900000" y="226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4" name="TOCIndex2"/>
          <p:cNvSpPr/>
          <p:nvPr/>
        </p:nvSpPr>
        <p:spPr>
          <a:xfrm>
            <a:off x="1180000" y="240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02</a:t>
            </a:r>
          </a:p>
        </p:txBody>
      </p:sp>
      <p:sp>
        <p:nvSpPr>
          <p:cNvPr id="25" name="TOCText2"/>
          <p:cNvSpPr/>
          <p:nvPr/>
        </p:nvSpPr>
        <p:spPr>
          <a:xfrm>
            <a:off x="2400000" y="240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Executive Summary</a:t>
            </a:r>
          </a:p>
        </p:txBody>
      </p:sp>
      <p:sp>
        <p:nvSpPr>
          <p:cNvPr id="26" name="TOCCard3"/>
          <p:cNvSpPr/>
          <p:nvPr/>
        </p:nvSpPr>
        <p:spPr>
          <a:xfrm>
            <a:off x="900000" y="302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7" name="TOCIndex3"/>
          <p:cNvSpPr/>
          <p:nvPr/>
        </p:nvSpPr>
        <p:spPr>
          <a:xfrm>
            <a:off x="1180000" y="316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03</a:t>
            </a:r>
          </a:p>
        </p:txBody>
      </p:sp>
      <p:sp>
        <p:nvSpPr>
          <p:cNvPr id="28" name="TOCText3"/>
          <p:cNvSpPr/>
          <p:nvPr/>
        </p:nvSpPr>
        <p:spPr>
          <a:xfrm>
            <a:off x="2400000" y="316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Why text-only still matters</a:t>
            </a:r>
          </a:p>
        </p:txBody>
      </p:sp>
      <p:sp>
        <p:nvSpPr>
          <p:cNvPr id="29" name="TOCCard4"/>
          <p:cNvSpPr/>
          <p:nvPr/>
        </p:nvSpPr>
        <p:spPr>
          <a:xfrm>
            <a:off x="900000" y="378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30" name="TOCIndex4"/>
          <p:cNvSpPr/>
          <p:nvPr/>
        </p:nvSpPr>
        <p:spPr>
          <a:xfrm>
            <a:off x="1180000" y="392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04</a:t>
            </a:r>
          </a:p>
        </p:txBody>
      </p:sp>
      <p:sp>
        <p:nvSpPr>
          <p:cNvPr id="31" name="TOCText4"/>
          <p:cNvSpPr/>
          <p:nvPr/>
        </p:nvSpPr>
        <p:spPr>
          <a:xfrm>
            <a:off x="2400000" y="392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Operating model</a:t>
            </a:r>
          </a:p>
        </p:txBody>
      </p:sp>
      <p:sp>
        <p:nvSpPr>
          <p:cNvPr id="32" name="TOCCard5"/>
          <p:cNvSpPr/>
          <p:nvPr/>
        </p:nvSpPr>
        <p:spPr>
          <a:xfrm>
            <a:off x="900000" y="454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33" name="TOCIndex5"/>
          <p:cNvSpPr/>
          <p:nvPr/>
        </p:nvSpPr>
        <p:spPr>
          <a:xfrm>
            <a:off x="1180000" y="468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05</a:t>
            </a:r>
          </a:p>
        </p:txBody>
      </p:sp>
      <p:sp>
        <p:nvSpPr>
          <p:cNvPr id="34" name="TOCText5"/>
          <p:cNvSpPr/>
          <p:nvPr/>
        </p:nvSpPr>
        <p:spPr>
          <a:xfrm>
            <a:off x="2400000" y="468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Decision and Next Steps</a:t>
            </a:r>
          </a:p>
        </p:txBody>
      </p:sp>
      <p:sp>
        <p:nvSpPr>
          <p:cNvPr id="35" name="TOCCard6"/>
          <p:cNvSpPr/>
          <p:nvPr/>
        </p:nvSpPr>
        <p:spPr>
          <a:xfrm>
            <a:off x="900000" y="530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36" name="TOCIndex6"/>
          <p:cNvSpPr/>
          <p:nvPr/>
        </p:nvSpPr>
        <p:spPr>
          <a:xfrm>
            <a:off x="1180000" y="544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Georgia"/>
                <a:ea typeface="Noto Serif CJK SC"/>
              </a:rPr>
              <a:t>06</a:t>
            </a:r>
          </a:p>
        </p:txBody>
      </p:sp>
      <p:sp>
        <p:nvSpPr>
          <p:cNvPr id="37" name="TOCText6"/>
          <p:cNvSpPr/>
          <p:nvPr/>
        </p:nvSpPr>
        <p:spPr>
          <a:xfrm>
            <a:off x="2400000" y="544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Recommendation</a:t>
            </a:r>
          </a:p>
        </p:txBody>
      </p:sp>
      <p:sp>
        <p:nvSpPr>
          <p:cNvPr id="8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8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02/08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7C2D12"/>
              </a:gs>
              <a:gs pos="100000">
                <a:srgbClr val="0F172A">
                  <a:alpha val="6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" name="ChapterNo"/>
          <p:cNvSpPr/>
          <p:nvPr/>
        </p:nvSpPr>
        <p:spPr>
          <a:xfrm>
            <a:off x="1000000" y="1400000"/>
            <a:ext cx="2000000" cy="9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600" b="1">
                <a:solidFill>
                  <a:srgbClr val="0F172A"/>
                </a:solidFill>
                <a:latin typeface="Georgia"/>
                <a:ea typeface="Noto Serif CJK SC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1000000" y="2450000"/>
            <a:ext cx="5600000" cy="10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400" b="1">
                <a:solidFill>
                  <a:srgbClr val="1C1917"/>
                </a:solidFill>
                <a:latin typeface="Georgia"/>
                <a:ea typeface="Noto Serif CJK SC"/>
              </a:rPr>
              <a:t>Core Storyline</a:t>
            </a:r>
          </a:p>
        </p:txBody>
      </p:sp>
      <p:sp>
        <p:nvSpPr>
          <p:cNvPr id="5" name="Subtitle"/>
          <p:cNvSpPr/>
          <p:nvPr/>
        </p:nvSpPr>
        <p:spPr>
          <a:xfrm>
            <a:off x="1000000" y="3650000"/>
            <a:ext cx="5400000" cy="7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Use this section to shift the story before the next cluster of slides.</a:t>
            </a:r>
          </a:p>
        </p:txBody>
      </p:sp>
      <p:sp>
        <p:nvSpPr>
          <p:cNvPr id="10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0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03/08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1C1917"/>
                </a:solidFill>
                <a:latin typeface="Georgia"/>
                <a:ea typeface="Noto Serif CJK SC"/>
              </a:rPr>
              <a:t>Executive Summary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98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292524">
                    <a:alpha val="80000"/>
                  </a:srgbClr>
                </a:solidFill>
                <a:latin typeface="Georgia"/>
                <a:ea typeface="Noto Serif CJK SC"/>
              </a:rPr>
              <a:t>Lead with the decision, then support it slide by slide</a:t>
            </a:r>
          </a:p>
        </p:txBody>
      </p:sp>
      <p:sp>
        <p:nvSpPr>
          <p:cNvPr id="3" name="Content"/>
          <p:cNvSpPr/>
          <p:nvPr/>
        </p:nvSpPr>
        <p:spPr>
          <a:xfrm>
            <a:off x="700000" y="1760000"/>
            <a:ext cx="10800000" cy="3890000"/>
          </a:xfrm>
          <a:prstGeom prst="rect">
            <a:avLst/>
          </a:prstGeom>
        </p:spPr>
        <p:txBody>
          <a:bodyPr anchor="t" lIns="40000" rIns="40000">
            <a:normAutofit fontScale="82000" lnSpcReduction="20000"/>
          </a:bodyPr>
          <a:lstStyle/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292524"/>
                </a:solidFill>
                <a:latin typeface="Georgia"/>
                <a:ea typeface="Noto Serif CJK SC"/>
              </a:rPr>
              <a:t>Core Insight: State.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292524"/>
                </a:solidFill>
                <a:latin typeface="Georgia"/>
                <a:ea typeface="Noto Serif CJK SC"/>
              </a:rPr>
              <a:t>Why It Matters: Summarize the impact, risk, or upside behind the conclusion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292524"/>
                </a:solidFill>
                <a:latin typeface="Georgia"/>
                <a:ea typeface="Noto Serif CJK SC"/>
              </a:rPr>
              <a:t>Decision: Clarify what should happen next and who needs to move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04/08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2800" b="1">
                <a:solidFill>
                  <a:srgbClr val="1C1917"/>
                </a:solidFill>
                <a:latin typeface="Georgia"/>
                <a:ea typeface="Noto Serif CJK SC"/>
              </a:rPr>
              <a:t>Why text-only still matters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22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292524">
                    <a:alpha val="80000"/>
                  </a:srgbClr>
                </a:solidFill>
                <a:latin typeface="Georgia"/>
                <a:ea typeface="Noto Serif CJK SC"/>
              </a:rPr>
              <a:t>Some workflows prefer compact, reviewable copy</a:t>
            </a:r>
          </a:p>
        </p:txBody>
      </p:sp>
      <p:sp>
        <p:nvSpPr>
          <p:cNvPr id="40" name="SectionCard1"/>
          <p:cNvSpPr/>
          <p:nvPr/>
        </p:nvSpPr>
        <p:spPr>
          <a:xfrm>
            <a:off x="700000" y="2000000"/>
            <a:ext cx="5290000" cy="1715000"/>
          </a:xfrm>
          <a:prstGeom prst="roundRect">
            <a:avLst/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8000"/>
              </a:srgbClr>
            </a:solidFill>
          </a:ln>
        </p:spPr>
      </p:sp>
      <p:sp>
        <p:nvSpPr>
          <p:cNvPr id="42" name="SectionBody1"/>
          <p:cNvSpPr/>
          <p:nvPr/>
        </p:nvSpPr>
        <p:spPr>
          <a:xfrm>
            <a:off x="700000" y="2220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292524"/>
                </a:solidFill>
                <a:latin typeface="Georgia"/>
                <a:ea typeface="Noto Serif CJK SC"/>
              </a:rPr>
              <a:t>Controls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292524"/>
                </a:solidFill>
                <a:latin typeface="Georgia"/>
                <a:ea typeface="Noto Serif CJK SC"/>
              </a:rPr>
              <a:t>No generated media in regulated review loops</a:t>
            </a:r>
          </a:p>
        </p:txBody>
      </p:sp>
      <p:sp>
        <p:nvSpPr>
          <p:cNvPr id="43" name="SectionCard2"/>
          <p:cNvSpPr/>
          <p:nvPr/>
        </p:nvSpPr>
        <p:spPr>
          <a:xfrm>
            <a:off x="6210000" y="2000000"/>
            <a:ext cx="5290000" cy="1715000"/>
          </a:xfrm>
          <a:prstGeom prst="roundRect">
            <a:avLst/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8000"/>
              </a:srgbClr>
            </a:solidFill>
          </a:ln>
        </p:spPr>
      </p:sp>
      <p:sp>
        <p:nvSpPr>
          <p:cNvPr id="45" name="SectionBody2"/>
          <p:cNvSpPr/>
          <p:nvPr/>
        </p:nvSpPr>
        <p:spPr>
          <a:xfrm>
            <a:off x="6210000" y="2220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292524"/>
                </a:solidFill>
                <a:latin typeface="Georgia"/>
                <a:ea typeface="Noto Serif CJK SC"/>
              </a:rPr>
              <a:t>Speed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292524"/>
                </a:solidFill>
                <a:latin typeface="Georgia"/>
                <a:ea typeface="Noto Serif CJK SC"/>
              </a:rPr>
              <a:t>Smaller files for quick operational sharing</a:t>
            </a:r>
          </a:p>
        </p:txBody>
      </p:sp>
      <p:sp>
        <p:nvSpPr>
          <p:cNvPr id="46" name="SectionCard3"/>
          <p:cNvSpPr/>
          <p:nvPr/>
        </p:nvSpPr>
        <p:spPr>
          <a:xfrm>
            <a:off x="700000" y="3935000"/>
            <a:ext cx="5290000" cy="1715000"/>
          </a:xfrm>
          <a:prstGeom prst="roundRect">
            <a:avLst/>
          </a:prstGeom>
          <a:solidFill>
            <a:srgbClr val="FFF8EF">
              <a:alpha val="98000"/>
            </a:srgbClr>
          </a:solidFill>
          <a:ln w="12700">
            <a:solidFill>
              <a:srgbClr val="0F172A">
                <a:alpha val="18000"/>
              </a:srgbClr>
            </a:solidFill>
          </a:ln>
        </p:spPr>
      </p:sp>
      <p:sp>
        <p:nvSpPr>
          <p:cNvPr id="48" name="SectionBody3"/>
          <p:cNvSpPr/>
          <p:nvPr/>
        </p:nvSpPr>
        <p:spPr>
          <a:xfrm>
            <a:off x="700000" y="4155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292524"/>
                </a:solidFill>
                <a:latin typeface="Georgia"/>
                <a:ea typeface="Noto Serif CJK SC"/>
              </a:rPr>
              <a:t>Audit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292524"/>
                </a:solidFill>
                <a:latin typeface="Georgia"/>
                <a:ea typeface="Noto Serif CJK SC"/>
              </a:rPr>
              <a:t>Every claim remains visible in text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05/08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1C1917"/>
                </a:solidFill>
                <a:latin typeface="Georgia"/>
                <a:ea typeface="Noto Serif CJK SC"/>
              </a:rPr>
              <a:t>Operating model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292524">
                    <a:alpha val="80000"/>
                  </a:srgbClr>
                </a:solidFill>
                <a:latin typeface="Georgia"/>
                <a:ea typeface="Noto Serif CJK SC"/>
              </a:rPr>
              <a:t>A staged rollout keeps ownership clear</a:t>
            </a:r>
          </a:p>
        </p:txBody>
      </p:sp>
      <p:sp>
        <p:nvSpPr>
          <p:cNvPr id="20" name="TimelineAxis"/>
          <p:cNvSpPr/>
          <p:nvPr/>
        </p:nvSpPr>
        <p:spPr>
          <a:xfrm>
            <a:off x="1300000" y="3300000"/>
            <a:ext cx="9600000" cy="0"/>
          </a:xfrm>
          <a:prstGeom prst="line">
            <a:avLst/>
          </a:prstGeom>
          <a:ln w="19050">
            <a:solidFill>
              <a:srgbClr val="0F172A"/>
            </a:solidFill>
          </a:ln>
        </p:spPr>
      </p:sp>
      <p:sp>
        <p:nvSpPr>
          <p:cNvPr id="21" name="TimelineDot1"/>
          <p:cNvSpPr/>
          <p:nvPr/>
        </p:nvSpPr>
        <p:spPr>
          <a:xfrm>
            <a:off x="1140000" y="3140000"/>
            <a:ext cx="320000" cy="320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TimelineHead1"/>
          <p:cNvSpPr/>
          <p:nvPr/>
        </p:nvSpPr>
        <p:spPr>
          <a:xfrm>
            <a:off x="400000" y="2300000"/>
            <a:ext cx="1800000" cy="4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500" b="1">
                <a:solidFill>
                  <a:srgbClr val="0F172A"/>
                </a:solidFill>
                <a:latin typeface="Georgia"/>
                <a:ea typeface="Noto Serif CJK SC"/>
              </a:rPr>
              <a:t>Step 1</a:t>
            </a:r>
          </a:p>
        </p:txBody>
      </p:sp>
      <p:sp>
        <p:nvSpPr>
          <p:cNvPr id="23" name="TimelineDetail1"/>
          <p:cNvSpPr/>
          <p:nvPr/>
        </p:nvSpPr>
        <p:spPr>
          <a:xfrm>
            <a:off x="400000" y="3620000"/>
            <a:ext cx="1800000" cy="86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ctr"/>
            <a:r>
              <a:rPr lang="zh-CN" sz="1300">
                <a:solidFill>
                  <a:srgbClr val="292524"/>
                </a:solidFill>
                <a:latin typeface="Georgia"/>
                <a:ea typeface="Noto Serif CJK SC"/>
              </a:rPr>
              <a:t>Define approved templates</a:t>
            </a:r>
          </a:p>
        </p:txBody>
      </p:sp>
      <p:sp>
        <p:nvSpPr>
          <p:cNvPr id="24" name="TimelineDot2"/>
          <p:cNvSpPr/>
          <p:nvPr/>
        </p:nvSpPr>
        <p:spPr>
          <a:xfrm>
            <a:off x="5940000" y="3140000"/>
            <a:ext cx="320000" cy="320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5" name="TimelineHead2"/>
          <p:cNvSpPr/>
          <p:nvPr/>
        </p:nvSpPr>
        <p:spPr>
          <a:xfrm>
            <a:off x="5200000" y="2300000"/>
            <a:ext cx="1800000" cy="4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500" b="1">
                <a:solidFill>
                  <a:srgbClr val="0F172A"/>
                </a:solidFill>
                <a:latin typeface="Georgia"/>
                <a:ea typeface="Noto Serif CJK SC"/>
              </a:rPr>
              <a:t>Step 2</a:t>
            </a:r>
          </a:p>
        </p:txBody>
      </p:sp>
      <p:sp>
        <p:nvSpPr>
          <p:cNvPr id="26" name="TimelineDetail2"/>
          <p:cNvSpPr/>
          <p:nvPr/>
        </p:nvSpPr>
        <p:spPr>
          <a:xfrm>
            <a:off x="5200000" y="3620000"/>
            <a:ext cx="1800000" cy="86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ctr"/>
            <a:r>
              <a:rPr lang="zh-CN" sz="1300">
                <a:solidFill>
                  <a:srgbClr val="292524"/>
                </a:solidFill>
                <a:latin typeface="Georgia"/>
                <a:ea typeface="Noto Serif CJK SC"/>
              </a:rPr>
              <a:t>Render locally with --no-images</a:t>
            </a:r>
          </a:p>
        </p:txBody>
      </p:sp>
      <p:sp>
        <p:nvSpPr>
          <p:cNvPr id="27" name="TimelineDot3"/>
          <p:cNvSpPr/>
          <p:nvPr/>
        </p:nvSpPr>
        <p:spPr>
          <a:xfrm>
            <a:off x="10740000" y="3140000"/>
            <a:ext cx="320000" cy="320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" name="TimelineHead3"/>
          <p:cNvSpPr/>
          <p:nvPr/>
        </p:nvSpPr>
        <p:spPr>
          <a:xfrm>
            <a:off x="10000000" y="2300000"/>
            <a:ext cx="1800000" cy="4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500" b="1">
                <a:solidFill>
                  <a:srgbClr val="0F172A"/>
                </a:solidFill>
                <a:latin typeface="Georgia"/>
                <a:ea typeface="Noto Serif CJK SC"/>
              </a:rPr>
              <a:t>Step 3</a:t>
            </a:r>
          </a:p>
        </p:txBody>
      </p:sp>
      <p:sp>
        <p:nvSpPr>
          <p:cNvPr id="29" name="TimelineDetail3"/>
          <p:cNvSpPr/>
          <p:nvPr/>
        </p:nvSpPr>
        <p:spPr>
          <a:xfrm>
            <a:off x="10000000" y="3620000"/>
            <a:ext cx="1800000" cy="86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ctr"/>
            <a:r>
              <a:rPr lang="zh-CN" sz="1300">
                <a:solidFill>
                  <a:srgbClr val="292524"/>
                </a:solidFill>
                <a:latin typeface="Georgia"/>
                <a:ea typeface="Noto Serif CJK SC"/>
              </a:rPr>
              <a:t>Publish only after human review</a:t>
            </a:r>
          </a:p>
        </p:txBody>
      </p:sp>
      <p:sp>
        <p:nvSpPr>
          <p:cNvPr id="14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4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06/08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7C2D12"/>
              </a:gs>
              <a:gs pos="100000">
                <a:srgbClr val="0F172A">
                  <a:alpha val="6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" name="ChapterNo"/>
          <p:cNvSpPr/>
          <p:nvPr/>
        </p:nvSpPr>
        <p:spPr>
          <a:xfrm>
            <a:off x="1000000" y="1400000"/>
            <a:ext cx="2000000" cy="9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600" b="1">
                <a:solidFill>
                  <a:srgbClr val="0F172A"/>
                </a:solidFill>
                <a:latin typeface="Georgia"/>
                <a:ea typeface="Noto Serif CJK SC"/>
              </a:rPr>
              <a:t>02</a:t>
            </a:r>
          </a:p>
        </p:txBody>
      </p:sp>
      <p:sp>
        <p:nvSpPr>
          <p:cNvPr id="4" name="Title"/>
          <p:cNvSpPr/>
          <p:nvPr/>
        </p:nvSpPr>
        <p:spPr>
          <a:xfrm>
            <a:off x="1000000" y="2450000"/>
            <a:ext cx="5600000" cy="10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400" b="1">
                <a:solidFill>
                  <a:srgbClr val="1C1917"/>
                </a:solidFill>
                <a:latin typeface="Georgia"/>
                <a:ea typeface="Noto Serif CJK SC"/>
              </a:rPr>
              <a:t>Decision and Next Steps</a:t>
            </a:r>
          </a:p>
        </p:txBody>
      </p:sp>
      <p:sp>
        <p:nvSpPr>
          <p:cNvPr id="5" name="Subtitle"/>
          <p:cNvSpPr/>
          <p:nvPr/>
        </p:nvSpPr>
        <p:spPr>
          <a:xfrm>
            <a:off x="1000000" y="3650000"/>
            <a:ext cx="5400000" cy="7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292524"/>
                </a:solidFill>
                <a:latin typeface="Georgia"/>
                <a:ea typeface="Noto Serif CJK SC"/>
              </a:rPr>
              <a:t>Use this section to shift the story before the next cluster of slides.</a:t>
            </a:r>
          </a:p>
        </p:txBody>
      </p:sp>
      <p:sp>
        <p:nvSpPr>
          <p:cNvPr id="10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0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07/08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1C1917"/>
                </a:solidFill>
                <a:latin typeface="Georgia"/>
                <a:ea typeface="Noto Serif CJK SC"/>
              </a:rPr>
              <a:t>Recommendation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84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292524">
                    <a:alpha val="80000"/>
                  </a:srgbClr>
                </a:solidFill>
                <a:latin typeface="Georgia"/>
                <a:ea typeface="Noto Serif CJK SC"/>
              </a:rPr>
              <a:t>Use --no-images when reviewability matters more than visual richness</a:t>
            </a:r>
          </a:p>
        </p:txBody>
      </p:sp>
      <p:sp>
        <p:nvSpPr>
          <p:cNvPr id="40" name="ClosingDecisionBanner"/>
          <p:cNvSpPr/>
          <p:nvPr/>
        </p:nvSpPr>
        <p:spPr>
          <a:xfrm>
            <a:off x="1200000" y="1950000"/>
            <a:ext cx="9800000" cy="1280000"/>
          </a:xfrm>
          <a:prstGeom prst="rect">
            <a:avLst/>
          </a:prstGeom>
          <a:solidFill>
            <a:srgbClr val="111827">
              <a:alpha val="96000"/>
            </a:srgbClr>
          </a:solidFill>
          <a:ln>
            <a:noFill/>
          </a:ln>
        </p:spPr>
      </p:sp>
      <p:sp>
        <p:nvSpPr>
          <p:cNvPr id="41" name="ClosingDecisionAccent"/>
          <p:cNvSpPr/>
          <p:nvPr/>
        </p:nvSpPr>
        <p:spPr>
          <a:xfrm>
            <a:off x="1200000" y="1950000"/>
            <a:ext cx="130000" cy="1280000"/>
          </a:xfrm>
          <a:prstGeom prst="rect">
            <a:avLst/>
          </a:prstGeom>
          <a:solidFill>
            <a:srgbClr val="0F172A">
              <a:alpha val="100000"/>
            </a:srgbClr>
          </a:solidFill>
          <a:ln>
            <a:noFill/>
          </a:ln>
        </p:spPr>
      </p:sp>
      <p:sp>
        <p:nvSpPr>
          <p:cNvPr id="42" name="ClosingDecisionHeading"/>
          <p:cNvSpPr/>
          <p:nvPr/>
        </p:nvSpPr>
        <p:spPr>
          <a:xfrm>
            <a:off x="1500000" y="2180000"/>
            <a:ext cx="9200000" cy="36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Georgia"/>
                <a:ea typeface="Noto Serif CJK SC"/>
              </a:rPr>
              <a:t>Step 1</a:t>
            </a:r>
          </a:p>
        </p:txBody>
      </p:sp>
      <p:sp>
        <p:nvSpPr>
          <p:cNvPr id="43" name="ClosingDecisionText"/>
          <p:cNvSpPr/>
          <p:nvPr/>
        </p:nvSpPr>
        <p:spPr>
          <a:xfrm>
            <a:off x="1500000" y="2650000"/>
            <a:ext cx="9200000" cy="38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450">
                <a:solidFill>
                  <a:srgbClr val="E5E7EB"/>
                </a:solidFill>
                <a:latin typeface="Georgia"/>
                <a:ea typeface="Noto Serif CJK SC"/>
              </a:rPr>
              <a:t>Document the default</a:t>
            </a:r>
          </a:p>
        </p:txBody>
      </p:sp>
      <p:sp>
        <p:nvSpPr>
          <p:cNvPr id="50" name="ClosingDecisionSupportHead1"/>
          <p:cNvSpPr/>
          <p:nvPr/>
        </p:nvSpPr>
        <p:spPr>
          <a:xfrm>
            <a:off x="1500000" y="3720000"/>
            <a:ext cx="3600000" cy="3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350" b="1">
                <a:solidFill>
                  <a:srgbClr val="0F172A"/>
                </a:solidFill>
                <a:latin typeface="Georgia"/>
                <a:ea typeface="Noto Serif CJK SC"/>
              </a:rPr>
              <a:t>Step 2</a:t>
            </a:r>
          </a:p>
        </p:txBody>
      </p:sp>
      <p:sp>
        <p:nvSpPr>
          <p:cNvPr id="51" name="ClosingDecisionSupportText1"/>
          <p:cNvSpPr/>
          <p:nvPr/>
        </p:nvSpPr>
        <p:spPr>
          <a:xfrm>
            <a:off x="1500000" y="4130000"/>
            <a:ext cx="3600000" cy="42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292524"/>
                </a:solidFill>
                <a:latin typeface="Georgia"/>
                <a:ea typeface="Noto Serif CJK SC"/>
              </a:rPr>
              <a:t>Keep prompts with artifacts</a:t>
            </a:r>
          </a:p>
        </p:txBody>
      </p:sp>
      <p:sp>
        <p:nvSpPr>
          <p:cNvPr id="52" name="ClosingDecisionSupportHead2"/>
          <p:cNvSpPr/>
          <p:nvPr/>
        </p:nvSpPr>
        <p:spPr>
          <a:xfrm>
            <a:off x="6050000" y="3720000"/>
            <a:ext cx="3600000" cy="3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350" b="1">
                <a:solidFill>
                  <a:srgbClr val="0F172A"/>
                </a:solidFill>
                <a:latin typeface="Georgia"/>
                <a:ea typeface="Noto Serif CJK SC"/>
              </a:rPr>
              <a:t>Step 3</a:t>
            </a:r>
          </a:p>
        </p:txBody>
      </p:sp>
      <p:sp>
        <p:nvSpPr>
          <p:cNvPr id="53" name="ClosingDecisionSupportText2"/>
          <p:cNvSpPr/>
          <p:nvPr/>
        </p:nvSpPr>
        <p:spPr>
          <a:xfrm>
            <a:off x="6050000" y="4130000"/>
            <a:ext cx="3600000" cy="42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292524"/>
                </a:solidFill>
                <a:latin typeface="Georgia"/>
                <a:ea typeface="Noto Serif CJK SC"/>
              </a:rPr>
              <a:t>Use scoring only when requested</a:t>
            </a:r>
          </a:p>
        </p:txBody>
      </p:sp>
      <p:sp>
        <p:nvSpPr>
          <p:cNvPr id="15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D6D3D1">
                <a:alpha val="34000"/>
              </a:srgbClr>
            </a:solidFill>
          </a:ln>
        </p:spPr>
      </p:sp>
      <p:sp>
        <p:nvSpPr>
          <p:cNvPr id="15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292524">
                    <a:alpha val="56000"/>
                  </a:srgbClr>
                </a:solidFill>
              </a:rPr>
              <a:t>08/08</a:t>
            </a:r>
          </a:p>
        </p:txBody>
      </p:sp>
    </p:spTree>
  </p:cSld>
</p:sld>
</file>

<file path=ppt/theme/theme1.xml><?xml version="1.0" encoding="utf-8"?>
<a:theme xmlns:a="http://schemas.openxmlformats.org/drawingml/2006/main" name="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C2D12"/>
      </a:accent1>
      <a:accent2>
        <a:srgbClr val="D97706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ple-Style">
      <a:majorFont>
        <a:latin typeface="Georgia" panose="020B0604020202020204"/>
        <a:ea typeface="Noto Serif CJK SC"/>
        <a:cs typeface=""/>
      </a:majorFont>
      <a:minorFont>
        <a:latin typeface="Georgia" panose="020B0604020202020204"/>
        <a:ea typeface="Noto Serif CJK SC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officecli PPTX Generator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Text-only executive briefing</dc:title>
  <dc:creator>OfficeCLI</dc:creator>
  <dcterms:created xsi:type="dcterms:W3CDTF">2026-05-14T06:11:08Z</dcterms:created>
</cp:coreProperties>
</file>