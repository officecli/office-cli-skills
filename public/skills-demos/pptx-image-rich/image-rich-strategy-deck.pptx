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theme" Target="theme/theme1.xml"/>
    <Relationship Id="rId12" Type="http://schemas.openxmlformats.org/officeDocument/2006/relationships/presProps" Target="presProps.xml"/>
    <Relationship Id="rId13" Type="http://schemas.openxmlformats.org/officeDocument/2006/relationships/viewProps" Target="viewProps.xml"/>
    <Relationship Id="rId14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Background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" name="Image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1000000" y="1850000"/>
            <a:ext cx="5000000" cy="14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4400" b="1">
                <a:solidFill>
                  <a:srgbClr val="FFFFFF"/>
                </a:solidFill>
                <a:latin typeface="Aptos"/>
                <a:ea typeface="Microsoft YaHei"/>
              </a:rPr>
              <a:t>Image-rich strategy deck</a:t>
            </a:r>
          </a:p>
        </p:txBody>
      </p:sp>
      <p:sp>
        <p:nvSpPr>
          <p:cNvPr id="4" name="DecorLine"/>
          <p:cNvSpPr/>
          <p:nvPr/>
        </p:nvSpPr>
        <p:spPr>
          <a:xfrm>
            <a:off x="1000000" y="1500000"/>
            <a:ext cx="2600000" cy="0"/>
          </a:xfrm>
          <a:prstGeom prst="rect">
            <a:avLst/>
          </a:prstGeom>
          <a:ln w="28575">
            <a:solidFill>
              <a:srgbClr val="F97316"/>
            </a:solidFill>
          </a:ln>
        </p:spPr>
      </p:sp>
      <p:sp>
        <p:nvSpPr>
          <p:cNvPr id="3" name="Subtitle"/>
          <p:cNvSpPr/>
          <p:nvPr/>
        </p:nvSpPr>
        <p:spPr>
          <a:xfrm>
            <a:off x="1000000" y="3550000"/>
            <a:ext cx="5000000" cy="85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FFFFFF"/>
                </a:solidFill>
                <a:latin typeface="Aptos"/>
                <a:ea typeface="Microsoft YaHei"/>
              </a:rPr>
              <a:t>Prompt to published Office artifact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01/09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Contents</a:t>
            </a:r>
          </a:p>
        </p:txBody>
      </p:sp>
      <p:sp>
        <p:nvSpPr>
          <p:cNvPr id="4" name="TitleDeco"/>
          <p:cNvSpPr/>
          <p:nvPr/>
        </p:nvSpPr>
        <p:spPr>
          <a:xfrm>
            <a:off x="500000" y="320000"/>
            <a:ext cx="80000" cy="50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6" name="Subtitle"/>
          <p:cNvSpPr/>
          <p:nvPr/>
        </p:nvSpPr>
        <p:spPr>
          <a:xfrm>
            <a:off x="700000" y="90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Review the structure before diving into the content.</a:t>
            </a:r>
          </a:p>
        </p:txBody>
      </p:sp>
      <p:sp>
        <p:nvSpPr>
          <p:cNvPr id="20" name="TOCCard1"/>
          <p:cNvSpPr/>
          <p:nvPr/>
        </p:nvSpPr>
        <p:spPr>
          <a:xfrm>
            <a:off x="900000" y="150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21" name="TOCIndex1"/>
          <p:cNvSpPr/>
          <p:nvPr/>
        </p:nvSpPr>
        <p:spPr>
          <a:xfrm>
            <a:off x="1180000" y="164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01</a:t>
            </a:r>
          </a:p>
        </p:txBody>
      </p:sp>
      <p:sp>
        <p:nvSpPr>
          <p:cNvPr id="22" name="TOCText1"/>
          <p:cNvSpPr/>
          <p:nvPr/>
        </p:nvSpPr>
        <p:spPr>
          <a:xfrm>
            <a:off x="2400000" y="164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Core Storyline</a:t>
            </a:r>
          </a:p>
        </p:txBody>
      </p:sp>
      <p:sp>
        <p:nvSpPr>
          <p:cNvPr id="23" name="TOCCard2"/>
          <p:cNvSpPr/>
          <p:nvPr/>
        </p:nvSpPr>
        <p:spPr>
          <a:xfrm>
            <a:off x="900000" y="226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24" name="TOCIndex2"/>
          <p:cNvSpPr/>
          <p:nvPr/>
        </p:nvSpPr>
        <p:spPr>
          <a:xfrm>
            <a:off x="1180000" y="240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02</a:t>
            </a:r>
          </a:p>
        </p:txBody>
      </p:sp>
      <p:sp>
        <p:nvSpPr>
          <p:cNvPr id="25" name="TOCText2"/>
          <p:cNvSpPr/>
          <p:nvPr/>
        </p:nvSpPr>
        <p:spPr>
          <a:xfrm>
            <a:off x="2400000" y="240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Executive Summary</a:t>
            </a:r>
          </a:p>
        </p:txBody>
      </p:sp>
      <p:sp>
        <p:nvSpPr>
          <p:cNvPr id="26" name="TOCCard3"/>
          <p:cNvSpPr/>
          <p:nvPr/>
        </p:nvSpPr>
        <p:spPr>
          <a:xfrm>
            <a:off x="900000" y="302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27" name="TOCIndex3"/>
          <p:cNvSpPr/>
          <p:nvPr/>
        </p:nvSpPr>
        <p:spPr>
          <a:xfrm>
            <a:off x="1180000" y="316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03</a:t>
            </a:r>
          </a:p>
        </p:txBody>
      </p:sp>
      <p:sp>
        <p:nvSpPr>
          <p:cNvPr id="28" name="TOCText3"/>
          <p:cNvSpPr/>
          <p:nvPr/>
        </p:nvSpPr>
        <p:spPr>
          <a:xfrm>
            <a:off x="2400000" y="316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Workflow at a glance</a:t>
            </a:r>
          </a:p>
        </p:txBody>
      </p:sp>
      <p:sp>
        <p:nvSpPr>
          <p:cNvPr id="29" name="TOCCard4"/>
          <p:cNvSpPr/>
          <p:nvPr/>
        </p:nvSpPr>
        <p:spPr>
          <a:xfrm>
            <a:off x="900000" y="378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30" name="TOCIndex4"/>
          <p:cNvSpPr/>
          <p:nvPr/>
        </p:nvSpPr>
        <p:spPr>
          <a:xfrm>
            <a:off x="1180000" y="392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04</a:t>
            </a:r>
          </a:p>
        </p:txBody>
      </p:sp>
      <p:sp>
        <p:nvSpPr>
          <p:cNvPr id="31" name="TOCText4"/>
          <p:cNvSpPr/>
          <p:nvPr/>
        </p:nvSpPr>
        <p:spPr>
          <a:xfrm>
            <a:off x="2400000" y="392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Generated output gallery</a:t>
            </a:r>
          </a:p>
        </p:txBody>
      </p:sp>
      <p:sp>
        <p:nvSpPr>
          <p:cNvPr id="32" name="TOCCard5"/>
          <p:cNvSpPr/>
          <p:nvPr/>
        </p:nvSpPr>
        <p:spPr>
          <a:xfrm>
            <a:off x="900000" y="454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33" name="TOCIndex5"/>
          <p:cNvSpPr/>
          <p:nvPr/>
        </p:nvSpPr>
        <p:spPr>
          <a:xfrm>
            <a:off x="1180000" y="468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05</a:t>
            </a:r>
          </a:p>
        </p:txBody>
      </p:sp>
      <p:sp>
        <p:nvSpPr>
          <p:cNvPr id="34" name="TOCText5"/>
          <p:cNvSpPr/>
          <p:nvPr/>
        </p:nvSpPr>
        <p:spPr>
          <a:xfrm>
            <a:off x="2400000" y="468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Agent contract</a:t>
            </a:r>
          </a:p>
        </p:txBody>
      </p:sp>
      <p:sp>
        <p:nvSpPr>
          <p:cNvPr id="35" name="TOCCard6"/>
          <p:cNvSpPr/>
          <p:nvPr/>
        </p:nvSpPr>
        <p:spPr>
          <a:xfrm>
            <a:off x="900000" y="5300000"/>
            <a:ext cx="10300000" cy="62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36" name="TOCIndex6"/>
          <p:cNvSpPr/>
          <p:nvPr/>
        </p:nvSpPr>
        <p:spPr>
          <a:xfrm>
            <a:off x="1180000" y="5445000"/>
            <a:ext cx="9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06</a:t>
            </a:r>
          </a:p>
        </p:txBody>
      </p:sp>
      <p:sp>
        <p:nvSpPr>
          <p:cNvPr id="37" name="TOCText6"/>
          <p:cNvSpPr/>
          <p:nvPr/>
        </p:nvSpPr>
        <p:spPr>
          <a:xfrm>
            <a:off x="2400000" y="5445000"/>
            <a:ext cx="7800000" cy="32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Decision and Next Steps</a:t>
            </a:r>
          </a:p>
        </p:txBody>
      </p:sp>
      <p:sp>
        <p:nvSpPr>
          <p:cNvPr id="8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8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02/09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F97316">
                  <a:alpha val="6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" name="ChapterNo"/>
          <p:cNvSpPr/>
          <p:nvPr/>
        </p:nvSpPr>
        <p:spPr>
          <a:xfrm>
            <a:off x="1000000" y="1400000"/>
            <a:ext cx="2000000" cy="9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600" b="1">
                <a:solidFill>
                  <a:srgbClr val="F97316"/>
                </a:solidFill>
                <a:latin typeface="Aptos"/>
                <a:ea typeface="Microsoft YaHei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1000000" y="2450000"/>
            <a:ext cx="5600000" cy="10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400" b="1">
                <a:solidFill>
                  <a:srgbClr val="FFFFFF"/>
                </a:solidFill>
                <a:latin typeface="Aptos"/>
                <a:ea typeface="Microsoft YaHei"/>
              </a:rPr>
              <a:t>Core Storyline</a:t>
            </a:r>
          </a:p>
        </p:txBody>
      </p:sp>
      <p:sp>
        <p:nvSpPr>
          <p:cNvPr id="5" name="Subtitle"/>
          <p:cNvSpPr/>
          <p:nvPr/>
        </p:nvSpPr>
        <p:spPr>
          <a:xfrm>
            <a:off x="1000000" y="3650000"/>
            <a:ext cx="5400000" cy="7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Use this section to shift the story before the next cluster of slides.</a:t>
            </a:r>
          </a:p>
        </p:txBody>
      </p:sp>
      <p:sp>
        <p:nvSpPr>
          <p:cNvPr id="10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0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03/09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Executive Summary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98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Lead with the decision, then support it slide by slide</a:t>
            </a:r>
          </a:p>
        </p:txBody>
      </p:sp>
      <p:sp>
        <p:nvSpPr>
          <p:cNvPr id="3" name="Content"/>
          <p:cNvSpPr/>
          <p:nvPr/>
        </p:nvSpPr>
        <p:spPr>
          <a:xfrm>
            <a:off x="700000" y="1760000"/>
            <a:ext cx="10800000" cy="3890000"/>
          </a:xfrm>
          <a:prstGeom prst="rect">
            <a:avLst/>
          </a:prstGeom>
        </p:spPr>
        <p:txBody>
          <a:bodyPr anchor="t" lIns="40000" rIns="40000">
            <a:normAutofit fontScale="82000" lnSpcReduction="20000"/>
          </a:bodyPr>
          <a:lstStyle/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Core Insight: State.</a:t>
            </a:r>
          </a:p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Why It Matters: Summarize the impact, risk, or upside behind the conclusion</a:t>
            </a:r>
          </a:p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Decision: Clarify what should happen next and who needs to move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04/09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6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8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Workflow at a glance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122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Agents keep the loop reproducible</a:t>
            </a:r>
          </a:p>
        </p:txBody>
      </p:sp>
      <p:sp>
        <p:nvSpPr>
          <p:cNvPr id="40" name="SectionCard1"/>
          <p:cNvSpPr/>
          <p:nvPr/>
        </p:nvSpPr>
        <p:spPr>
          <a:xfrm>
            <a:off x="700000" y="2000000"/>
            <a:ext cx="5290000" cy="1715000"/>
          </a:xfrm>
          <a:prstGeom prst="roundRect">
            <a:avLst/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8000"/>
              </a:srgbClr>
            </a:solidFill>
          </a:ln>
        </p:spPr>
      </p:sp>
      <p:sp>
        <p:nvSpPr>
          <p:cNvPr id="42" name="SectionBody1"/>
          <p:cNvSpPr/>
          <p:nvPr/>
        </p:nvSpPr>
        <p:spPr>
          <a:xfrm>
            <a:off x="700000" y="2220000"/>
            <a:ext cx="5290000" cy="1455000"/>
          </a:xfrm>
          <a:prstGeom prst="rect">
            <a:avLst/>
          </a:prstGeom>
        </p:spPr>
        <p:txBody>
          <a:bodyPr lIns="220000" tIns="240000" rIns="220000" bIns="180000" anchor="t">
            <a:normAutofit fontScale="82000" lnSpcReduction="20000"/>
          </a:bodyPr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Aptos"/>
                <a:ea typeface="Microsoft YaHei"/>
              </a:rPr>
              <a:t>Plan</a:t>
            </a:r>
          </a:p>
          <a:p>
            <a:pPr algn="l">
              <a:spcBef>
                <a:spcPts val="300"/>
              </a:spcBef>
            </a:pPr>
            <a:r>
              <a:rPr lang="zh-CN" sz="1500">
                <a:solidFill>
                  <a:srgbClr val="E5E7EB"/>
                </a:solidFill>
                <a:latin typeface="Aptos"/>
                <a:ea typeface="Microsoft YaHei"/>
              </a:rPr>
              <a:t>The agent converts intent into a typed payload</a:t>
            </a:r>
          </a:p>
        </p:txBody>
      </p:sp>
      <p:sp>
        <p:nvSpPr>
          <p:cNvPr id="43" name="SectionCard2"/>
          <p:cNvSpPr/>
          <p:nvPr/>
        </p:nvSpPr>
        <p:spPr>
          <a:xfrm>
            <a:off x="6210000" y="2000000"/>
            <a:ext cx="5290000" cy="1715000"/>
          </a:xfrm>
          <a:prstGeom prst="roundRect">
            <a:avLst/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8000"/>
              </a:srgbClr>
            </a:solidFill>
          </a:ln>
        </p:spPr>
      </p:sp>
      <p:sp>
        <p:nvSpPr>
          <p:cNvPr id="45" name="SectionBody2"/>
          <p:cNvSpPr/>
          <p:nvPr/>
        </p:nvSpPr>
        <p:spPr>
          <a:xfrm>
            <a:off x="6210000" y="2220000"/>
            <a:ext cx="5290000" cy="1455000"/>
          </a:xfrm>
          <a:prstGeom prst="rect">
            <a:avLst/>
          </a:prstGeom>
        </p:spPr>
        <p:txBody>
          <a:bodyPr lIns="220000" tIns="240000" rIns="220000" bIns="180000" anchor="t">
            <a:normAutofit fontScale="82000" lnSpcReduction="20000"/>
          </a:bodyPr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Aptos"/>
                <a:ea typeface="Microsoft YaHei"/>
              </a:rPr>
              <a:t>Render</a:t>
            </a:r>
          </a:p>
          <a:p>
            <a:pPr algn="l">
              <a:spcBef>
                <a:spcPts val="300"/>
              </a:spcBef>
            </a:pPr>
            <a:r>
              <a:rPr lang="zh-CN" sz="1500">
                <a:solidFill>
                  <a:srgbClr val="E5E7EB"/>
                </a:solidFill>
                <a:latin typeface="Aptos"/>
                <a:ea typeface="Microsoft YaHei"/>
              </a:rPr>
              <a:t>OfficeCLI assembles the file locally</a:t>
            </a:r>
          </a:p>
        </p:txBody>
      </p:sp>
      <p:sp>
        <p:nvSpPr>
          <p:cNvPr id="46" name="SectionCard3"/>
          <p:cNvSpPr/>
          <p:nvPr/>
        </p:nvSpPr>
        <p:spPr>
          <a:xfrm>
            <a:off x="700000" y="3935000"/>
            <a:ext cx="5290000" cy="1715000"/>
          </a:xfrm>
          <a:prstGeom prst="roundRect">
            <a:avLst/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8000"/>
              </a:srgbClr>
            </a:solidFill>
          </a:ln>
        </p:spPr>
      </p:sp>
      <p:sp>
        <p:nvSpPr>
          <p:cNvPr id="48" name="SectionBody3"/>
          <p:cNvSpPr/>
          <p:nvPr/>
        </p:nvSpPr>
        <p:spPr>
          <a:xfrm>
            <a:off x="700000" y="4155000"/>
            <a:ext cx="5290000" cy="1455000"/>
          </a:xfrm>
          <a:prstGeom prst="rect">
            <a:avLst/>
          </a:prstGeom>
        </p:spPr>
        <p:txBody>
          <a:bodyPr lIns="220000" tIns="240000" rIns="220000" bIns="180000" anchor="t">
            <a:normAutofit fontScale="82000" lnSpcReduction="20000"/>
          </a:bodyPr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Aptos"/>
                <a:ea typeface="Microsoft YaHei"/>
              </a:rPr>
              <a:t>Publish</a:t>
            </a:r>
          </a:p>
          <a:p>
            <a:pPr algn="l">
              <a:spcBef>
                <a:spcPts val="300"/>
              </a:spcBef>
            </a:pPr>
            <a:r>
              <a:rPr lang="zh-CN" sz="1500">
                <a:solidFill>
                  <a:srgbClr val="E5E7EB"/>
                </a:solidFill>
                <a:latin typeface="Aptos"/>
                <a:ea typeface="Microsoft YaHei"/>
              </a:rPr>
              <a:t>Configured runs return online preview links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05/09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Generated output gallery</a:t>
            </a:r>
          </a:p>
        </p:txBody>
      </p:sp>
      <p:sp>
        <p:nvSpPr>
          <p:cNvPr id="3" name="TitleDeco"/>
          <p:cNvSpPr/>
          <p:nvPr/>
        </p:nvSpPr>
        <p:spPr>
          <a:xfrm>
            <a:off x="500000" y="320000"/>
            <a:ext cx="80000" cy="50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" name="Subtitle"/>
          <p:cNvSpPr/>
          <p:nvPr/>
        </p:nvSpPr>
        <p:spPr>
          <a:xfrm>
            <a:off x="700000" y="900000"/>
            <a:ext cx="10800000" cy="84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Visuals travel with the deck when image support is enabled</a:t>
            </a:r>
          </a:p>
        </p:txBody>
      </p:sp>
      <p:pic>
        <p:nvPicPr>
          <p:cNvPr id="40" name="GalleryDuoImage1"/>
          <p:cNvPicPr>
            <a:picLocks noChangeAspect="1"/>
          </p:cNvPicPr>
          <p:nvPr/>
        </p:nvPicPr>
        <p:blipFill>
          <a:blip r:embed="rId2"/>
          <a:srcRect l="0" t="16667" r="0" b="16667"/>
          <a:stretch>
            <a:fillRect/>
          </a:stretch>
        </p:blipFill>
        <p:spPr>
          <a:xfrm>
            <a:off x="900000" y="1600000"/>
            <a:ext cx="4800000" cy="1800000"/>
          </a:xfrm>
          <a:prstGeom prst="rect">
            <a:avLst/>
          </a:prstGeom>
        </p:spPr>
      </p:pic>
      <p:sp>
        <p:nvSpPr>
          <p:cNvPr id="41" name="GalleryDuoCaption1"/>
          <p:cNvSpPr/>
          <p:nvPr/>
        </p:nvSpPr>
        <p:spPr>
          <a:xfrm>
            <a:off x="900000" y="3460000"/>
            <a:ext cx="4800000" cy="28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PPTX visual narrative</a:t>
            </a:r>
          </a:p>
        </p:txBody>
      </p:sp>
      <p:pic>
        <p:nvPicPr>
          <p:cNvPr id="42" name="GalleryDuoImage2"/>
          <p:cNvPicPr>
            <a:picLocks noChangeAspect="1"/>
          </p:cNvPicPr>
          <p:nvPr/>
        </p:nvPicPr>
        <p:blipFill>
          <a:blip r:embed="rId3"/>
          <a:srcRect l="0" t="16667" r="0" b="16667"/>
          <a:stretch>
            <a:fillRect/>
          </a:stretch>
        </p:blipFill>
        <p:spPr>
          <a:xfrm>
            <a:off x="6100000" y="1600000"/>
            <a:ext cx="4800000" cy="1800000"/>
          </a:xfrm>
          <a:prstGeom prst="rect">
            <a:avLst/>
          </a:prstGeom>
        </p:spPr>
      </p:pic>
      <p:sp>
        <p:nvSpPr>
          <p:cNvPr id="43" name="GalleryDuoCaption2"/>
          <p:cNvSpPr/>
          <p:nvPr/>
        </p:nvSpPr>
        <p:spPr>
          <a:xfrm>
            <a:off x="6100000" y="3460000"/>
            <a:ext cx="4800000" cy="28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Workbook-backed report</a:t>
            </a:r>
          </a:p>
        </p:txBody>
      </p:sp>
      <p:pic>
        <p:nvPicPr>
          <p:cNvPr id="44" name="GalleryDuoImage3"/>
          <p:cNvPicPr>
            <a:picLocks noChangeAspect="1"/>
          </p:cNvPicPr>
          <p:nvPr/>
        </p:nvPicPr>
        <p:blipFill>
          <a:blip r:embed="rId4"/>
          <a:srcRect l="0" t="16667" r="0" b="16667"/>
          <a:stretch>
            <a:fillRect/>
          </a:stretch>
        </p:blipFill>
        <p:spPr>
          <a:xfrm>
            <a:off x="900000" y="3900000"/>
            <a:ext cx="4800000" cy="1800000"/>
          </a:xfrm>
          <a:prstGeom prst="rect">
            <a:avLst/>
          </a:prstGeom>
        </p:spPr>
      </p:pic>
      <p:sp>
        <p:nvSpPr>
          <p:cNvPr id="45" name="GalleryDuoCaption3"/>
          <p:cNvSpPr/>
          <p:nvPr/>
        </p:nvSpPr>
        <p:spPr>
          <a:xfrm>
            <a:off x="900000" y="5760000"/>
            <a:ext cx="4800000" cy="28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IMG output</a:t>
            </a:r>
          </a:p>
        </p:txBody>
      </p:sp>
      <p:sp>
        <p:nvSpPr>
          <p:cNvPr id="16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6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06/09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Agent contract</a:t>
            </a:r>
          </a:p>
        </p:txBody>
      </p:sp>
      <p:sp>
        <p:nvSpPr>
          <p:cNvPr id="6" name="Subtitle"/>
          <p:cNvSpPr/>
          <p:nvPr/>
        </p:nvSpPr>
        <p:spPr>
          <a:xfrm>
            <a:off x="700000" y="900000"/>
            <a:ext cx="10800000" cy="6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Structured tools avoid scraping CLI progress</a:t>
            </a:r>
          </a:p>
        </p:txBody>
      </p:sp>
      <p:sp>
        <p:nvSpPr>
          <p:cNvPr id="40" name="ComparePanel1"/>
          <p:cNvSpPr/>
          <p:nvPr/>
        </p:nvSpPr>
        <p:spPr>
          <a:xfrm>
            <a:off x="900000" y="1700000"/>
            <a:ext cx="4900000" cy="300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41" name="CompareHeader1"/>
          <p:cNvSpPr/>
          <p:nvPr/>
        </p:nvSpPr>
        <p:spPr>
          <a:xfrm>
            <a:off x="1080000" y="1960000"/>
            <a:ext cx="4540000" cy="46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office.prepare</a:t>
            </a:r>
          </a:p>
        </p:txBody>
      </p:sp>
      <p:sp>
        <p:nvSpPr>
          <p:cNvPr id="42" name="CompareDetail1"/>
          <p:cNvSpPr/>
          <p:nvPr/>
        </p:nvSpPr>
        <p:spPr>
          <a:xfrm>
            <a:off x="1080000" y="2580000"/>
            <a:ext cx="4540000" cy="1500000"/>
          </a:xfrm>
          <a:prstGeom prst="rect">
            <a:avLst/>
          </a:prstGeom>
        </p:spPr>
        <p:txBody>
          <a:bodyPr anchor="t" lIns="180000" rIns="180000">
            <a:normAutofit fontScale="82000" lnSpcReduction="20000"/>
          </a:bodyPr>
          <a:lstStyle/>
          <a:p>
            <a:pPr algn="l"/>
            <a:r>
              <a:rPr lang="zh-CN" sz="1600">
                <a:solidFill>
                  <a:srgbClr val="E5E7EB"/>
                </a:solidFill>
                <a:latin typeface="Aptos"/>
                <a:ea typeface="Microsoft YaHei"/>
              </a:rPr>
              <a:t>Returns schemas and workbook context</a:t>
            </a:r>
          </a:p>
        </p:txBody>
      </p:sp>
      <p:sp>
        <p:nvSpPr>
          <p:cNvPr id="43" name="ComparePanel2"/>
          <p:cNvSpPr/>
          <p:nvPr/>
        </p:nvSpPr>
        <p:spPr>
          <a:xfrm>
            <a:off x="6200000" y="1700000"/>
            <a:ext cx="4900000" cy="3000000"/>
          </a:xfrm>
          <a:prstGeom prst="roundRect">
            <a:avLst>
              <a:gd name="adj" fmla="val 28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</p:spPr>
      </p:sp>
      <p:sp>
        <p:nvSpPr>
          <p:cNvPr id="44" name="CompareHeader2"/>
          <p:cNvSpPr/>
          <p:nvPr/>
        </p:nvSpPr>
        <p:spPr>
          <a:xfrm>
            <a:off x="6380000" y="1960000"/>
            <a:ext cx="4540000" cy="46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office.render</a:t>
            </a:r>
          </a:p>
        </p:txBody>
      </p:sp>
      <p:sp>
        <p:nvSpPr>
          <p:cNvPr id="45" name="CompareDetail2"/>
          <p:cNvSpPr/>
          <p:nvPr/>
        </p:nvSpPr>
        <p:spPr>
          <a:xfrm>
            <a:off x="6380000" y="2580000"/>
            <a:ext cx="4540000" cy="1500000"/>
          </a:xfrm>
          <a:prstGeom prst="rect">
            <a:avLst/>
          </a:prstGeom>
        </p:spPr>
        <p:txBody>
          <a:bodyPr anchor="t" lIns="180000" rIns="180000">
            <a:normAutofit fontScale="82000" lnSpcReduction="20000"/>
          </a:bodyPr>
          <a:lstStyle/>
          <a:p>
            <a:pPr algn="l"/>
            <a:r>
              <a:rPr lang="zh-CN" sz="1600">
                <a:solidFill>
                  <a:srgbClr val="E5E7EB"/>
                </a:solidFill>
                <a:latin typeface="Aptos"/>
                <a:ea typeface="Microsoft YaHei"/>
              </a:rPr>
              <a:t>Validates and writes final Office files</a:t>
            </a:r>
          </a:p>
        </p:txBody>
      </p:sp>
      <p:sp>
        <p:nvSpPr>
          <p:cNvPr id="12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07/09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F97316">
                  <a:alpha val="6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" name="ChapterNo"/>
          <p:cNvSpPr/>
          <p:nvPr/>
        </p:nvSpPr>
        <p:spPr>
          <a:xfrm>
            <a:off x="1000000" y="1400000"/>
            <a:ext cx="2000000" cy="9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600" b="1">
                <a:solidFill>
                  <a:srgbClr val="F97316"/>
                </a:solidFill>
                <a:latin typeface="Aptos"/>
                <a:ea typeface="Microsoft YaHei"/>
              </a:rPr>
              <a:t>02</a:t>
            </a:r>
          </a:p>
        </p:txBody>
      </p:sp>
      <p:sp>
        <p:nvSpPr>
          <p:cNvPr id="4" name="Title"/>
          <p:cNvSpPr/>
          <p:nvPr/>
        </p:nvSpPr>
        <p:spPr>
          <a:xfrm>
            <a:off x="1000000" y="2450000"/>
            <a:ext cx="5600000" cy="10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3400" b="1">
                <a:solidFill>
                  <a:srgbClr val="FFFFFF"/>
                </a:solidFill>
                <a:latin typeface="Aptos"/>
                <a:ea typeface="Microsoft YaHei"/>
              </a:rPr>
              <a:t>Decision and Next Steps</a:t>
            </a:r>
          </a:p>
        </p:txBody>
      </p:sp>
      <p:sp>
        <p:nvSpPr>
          <p:cNvPr id="5" name="Subtitle"/>
          <p:cNvSpPr/>
          <p:nvPr/>
        </p:nvSpPr>
        <p:spPr>
          <a:xfrm>
            <a:off x="1000000" y="3650000"/>
            <a:ext cx="5400000" cy="70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800">
                <a:solidFill>
                  <a:srgbClr val="E5E7EB"/>
                </a:solidFill>
                <a:latin typeface="Aptos"/>
                <a:ea typeface="Microsoft YaHei"/>
              </a:rPr>
              <a:t>Use this section to shift the story before the next cluster of slides.</a:t>
            </a:r>
          </a:p>
        </p:txBody>
      </p:sp>
      <p:sp>
        <p:nvSpPr>
          <p:cNvPr id="10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0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08/09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Decision</a:t>
            </a:r>
          </a:p>
        </p:txBody>
      </p:sp>
      <p:sp>
        <p:nvSpPr>
          <p:cNvPr id="6" name="Subtitle"/>
          <p:cNvSpPr/>
          <p:nvPr/>
        </p:nvSpPr>
        <p:spPr>
          <a:xfrm>
            <a:off x="700000" y="900000"/>
            <a:ext cx="10800000" cy="84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Use the public skills repo as the reproducible demo surface</a:t>
            </a:r>
          </a:p>
        </p:txBody>
      </p:sp>
      <p:sp>
        <p:nvSpPr>
          <p:cNvPr id="40" name="ClosingDecisionBanner"/>
          <p:cNvSpPr/>
          <p:nvPr/>
        </p:nvSpPr>
        <p:spPr>
          <a:xfrm>
            <a:off x="1200000" y="1950000"/>
            <a:ext cx="9800000" cy="1280000"/>
          </a:xfrm>
          <a:prstGeom prst="rect">
            <a:avLst/>
          </a:prstGeom>
          <a:solidFill>
            <a:srgbClr val="111827">
              <a:alpha val="96000"/>
            </a:srgbClr>
          </a:solidFill>
          <a:ln>
            <a:noFill/>
          </a:ln>
        </p:spPr>
      </p:sp>
      <p:sp>
        <p:nvSpPr>
          <p:cNvPr id="41" name="ClosingDecisionAccent"/>
          <p:cNvSpPr/>
          <p:nvPr/>
        </p:nvSpPr>
        <p:spPr>
          <a:xfrm>
            <a:off x="1200000" y="1950000"/>
            <a:ext cx="130000" cy="1280000"/>
          </a:xfrm>
          <a:prstGeom prst="rect">
            <a:avLst/>
          </a:prstGeom>
          <a:solidFill>
            <a:srgbClr val="F97316">
              <a:alpha val="100000"/>
            </a:srgbClr>
          </a:solidFill>
          <a:ln>
            <a:noFill/>
          </a:ln>
        </p:spPr>
      </p:sp>
      <p:sp>
        <p:nvSpPr>
          <p:cNvPr id="42" name="ClosingDecisionHeading"/>
          <p:cNvSpPr/>
          <p:nvPr/>
        </p:nvSpPr>
        <p:spPr>
          <a:xfrm>
            <a:off x="1500000" y="2180000"/>
            <a:ext cx="9200000" cy="36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Aptos"/>
                <a:ea typeface="Microsoft YaHei"/>
              </a:rPr>
              <a:t>01</a:t>
            </a:r>
          </a:p>
        </p:txBody>
      </p:sp>
      <p:sp>
        <p:nvSpPr>
          <p:cNvPr id="43" name="ClosingDecisionText"/>
          <p:cNvSpPr/>
          <p:nvPr/>
        </p:nvSpPr>
        <p:spPr>
          <a:xfrm>
            <a:off x="1500000" y="2650000"/>
            <a:ext cx="9200000" cy="38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450">
                <a:solidFill>
                  <a:srgbClr val="E5E7EB"/>
                </a:solidFill>
                <a:latin typeface="Aptos"/>
                <a:ea typeface="Microsoft YaHei"/>
              </a:rPr>
              <a:t>Ship demo files next to prompts and commands</a:t>
            </a:r>
          </a:p>
        </p:txBody>
      </p:sp>
      <p:sp>
        <p:nvSpPr>
          <p:cNvPr id="50" name="ClosingDecisionSupportHead1"/>
          <p:cNvSpPr/>
          <p:nvPr/>
        </p:nvSpPr>
        <p:spPr>
          <a:xfrm>
            <a:off x="1500000" y="3720000"/>
            <a:ext cx="3600000" cy="3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350" b="1">
                <a:solidFill>
                  <a:srgbClr val="F97316"/>
                </a:solidFill>
                <a:latin typeface="Aptos"/>
                <a:ea typeface="Microsoft YaHei"/>
              </a:rPr>
              <a:t>02</a:t>
            </a:r>
          </a:p>
        </p:txBody>
      </p:sp>
      <p:sp>
        <p:nvSpPr>
          <p:cNvPr id="51" name="ClosingDecisionSupportText1"/>
          <p:cNvSpPr/>
          <p:nvPr/>
        </p:nvSpPr>
        <p:spPr>
          <a:xfrm>
            <a:off x="1500000" y="4130000"/>
            <a:ext cx="3600000" cy="42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Keep generated previews visible in GitHub</a:t>
            </a:r>
          </a:p>
        </p:txBody>
      </p:sp>
      <p:sp>
        <p:nvSpPr>
          <p:cNvPr id="52" name="ClosingDecisionSupportHead2"/>
          <p:cNvSpPr/>
          <p:nvPr/>
        </p:nvSpPr>
        <p:spPr>
          <a:xfrm>
            <a:off x="6050000" y="3720000"/>
            <a:ext cx="3600000" cy="300000"/>
          </a:xfrm>
          <a:prstGeom prst="rect">
            <a:avLst/>
          </a:prstGeom>
        </p:spPr>
        <p:txBody>
          <a:bodyPr anchor="ctr">
            <a:normAutofit fontScale="82000" lnSpcReduction="20000"/>
          </a:bodyPr>
          <a:lstStyle/>
          <a:p>
            <a:pPr algn="l"/>
            <a:r>
              <a:rPr lang="zh-CN" sz="1350" b="1">
                <a:solidFill>
                  <a:srgbClr val="F97316"/>
                </a:solidFill>
                <a:latin typeface="Aptos"/>
                <a:ea typeface="Microsoft YaHei"/>
              </a:rPr>
              <a:t>03</a:t>
            </a:r>
          </a:p>
        </p:txBody>
      </p:sp>
      <p:sp>
        <p:nvSpPr>
          <p:cNvPr id="53" name="ClosingDecisionSupportText2"/>
          <p:cNvSpPr/>
          <p:nvPr/>
        </p:nvSpPr>
        <p:spPr>
          <a:xfrm>
            <a:off x="6050000" y="4130000"/>
            <a:ext cx="3600000" cy="420000"/>
          </a:xfrm>
          <a:prstGeom prst="rect">
            <a:avLst/>
          </a:prstGeom>
        </p:spPr>
        <p:txBody>
          <a:bodyPr anchor="t">
            <a:normAutofit fontScale="82000" lnSpcReduction="20000"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Route agents through OfficeCLI when supported</a:t>
            </a:r>
          </a:p>
        </p:txBody>
      </p:sp>
      <p:sp>
        <p:nvSpPr>
          <p:cNvPr id="15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5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09/09</a:t>
            </a:r>
          </a:p>
        </p:txBody>
      </p:sp>
    </p:spTree>
  </p:cSld>
</p:sld>
</file>

<file path=ppt/theme/theme1.xml><?xml version="1.0" encoding="utf-8"?>
<a:theme xmlns:a="http://schemas.openxmlformats.org/drawingml/2006/main" name="Grap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2937"/>
      </a:accent1>
      <a:accent2>
        <a:srgbClr val="F97316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ple-Style">
      <a:majorFont>
        <a:latin typeface="Aptos" panose="020B0604020202020204"/>
        <a:ea typeface="Microsoft YaHei"/>
        <a:cs typeface=""/>
      </a:majorFont>
      <a:minorFont>
        <a:latin typeface="Aptos" panose="020B0604020202020204"/>
        <a:ea typeface="Microsoft YaHei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officecli PPTX Generator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Image-rich strategy deck</dc:title>
  <dc:creator>OfficeCLI</dc:creator>
  <dcterms:created xsi:type="dcterms:W3CDTF">2026-05-14T06:11:08Z</dcterms:created>
</cp:coreProperties>
</file>